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21599525" cy="12617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D01D43-B765-3A10-B54D-EC344D3E9A82}" name="Markus Stangl" initials="MS" userId="S::stm28382@ads.uni-regensburg.de::823a85cc-f94a-4050-9551-e5be9381ea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39" d="100"/>
          <a:sy n="39" d="100"/>
        </p:scale>
        <p:origin x="58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2064940"/>
            <a:ext cx="16199644" cy="439274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6627083"/>
            <a:ext cx="16199644" cy="3046295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133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87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3145602"/>
            <a:ext cx="18629590" cy="5248508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8443763"/>
            <a:ext cx="18629590" cy="2760066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82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80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358812"/>
            <a:ext cx="9179798" cy="8005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358812"/>
            <a:ext cx="9179798" cy="8005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30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671764"/>
            <a:ext cx="18629590" cy="24387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3093028"/>
            <a:ext cx="9137611" cy="1515846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4608874"/>
            <a:ext cx="9137611" cy="6778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3093028"/>
            <a:ext cx="9182611" cy="1515846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4608874"/>
            <a:ext cx="9182611" cy="6778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58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6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22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41163"/>
            <a:ext cx="6966408" cy="29440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816680"/>
            <a:ext cx="10934760" cy="8966567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785235"/>
            <a:ext cx="6966408" cy="7012616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46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841163"/>
            <a:ext cx="6966408" cy="29440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816680"/>
            <a:ext cx="10934760" cy="8966567"/>
          </a:xfrm>
        </p:spPr>
        <p:txBody>
          <a:bodyPr anchor="t"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785235"/>
            <a:ext cx="6966408" cy="7012616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7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82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671762"/>
            <a:ext cx="4657398" cy="106927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671762"/>
            <a:ext cx="13702199" cy="106927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08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671764"/>
            <a:ext cx="18629590" cy="2438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358812"/>
            <a:ext cx="18629590" cy="800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1694508"/>
            <a:ext cx="4859893" cy="671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8035B-F94F-4822-8E11-947F73106E6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1694508"/>
            <a:ext cx="7289840" cy="671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1694508"/>
            <a:ext cx="4859893" cy="671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95CAF-0F09-4098-900B-4BE92D3CEA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75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E58AF-0A2D-A6C0-C2AA-0733E9A4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BCF12-59B5-6E6D-AC8B-B4D117F3DFEC}"/>
              </a:ext>
            </a:extLst>
          </p:cNvPr>
          <p:cNvSpPr txBox="1"/>
          <p:nvPr/>
        </p:nvSpPr>
        <p:spPr>
          <a:xfrm>
            <a:off x="182274" y="6113587"/>
            <a:ext cx="1768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Playlist URLs that were hand-selected based on their usability for the purposes of this 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10DD7-86EC-E5D4-AFCC-8BFA89874148}"/>
              </a:ext>
            </a:extLst>
          </p:cNvPr>
          <p:cNvSpPr/>
          <p:nvPr/>
        </p:nvSpPr>
        <p:spPr>
          <a:xfrm>
            <a:off x="3229919" y="6333638"/>
            <a:ext cx="1674158" cy="52443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 _ Scraping the relevant YouTube URLs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06A534-CE61-6C25-78AE-6AA7805E4A0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950562" y="6529086"/>
            <a:ext cx="1279357" cy="66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2B384-87F8-872C-37DC-28486DCFE95F}"/>
              </a:ext>
            </a:extLst>
          </p:cNvPr>
          <p:cNvSpPr/>
          <p:nvPr/>
        </p:nvSpPr>
        <p:spPr>
          <a:xfrm>
            <a:off x="6235799" y="6333638"/>
            <a:ext cx="1674158" cy="524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2 _ Scraping YouTube metadata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0B5671-C2E5-40E0-5E41-5E00C22547AC}"/>
              </a:ext>
            </a:extLst>
          </p:cNvPr>
          <p:cNvSpPr/>
          <p:nvPr/>
        </p:nvSpPr>
        <p:spPr>
          <a:xfrm>
            <a:off x="6109938" y="3028961"/>
            <a:ext cx="1674158" cy="52443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6 _ Scraping </a:t>
            </a:r>
            <a:r>
              <a:rPr lang="en-GB" sz="1200" dirty="0" err="1"/>
              <a:t>Presseportal</a:t>
            </a:r>
            <a:r>
              <a:rPr lang="en-GB" sz="1200" dirty="0"/>
              <a:t> articles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CF60027-E66A-14AA-15DA-5C3F88D99AA8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3219822" y="7705249"/>
            <a:ext cx="2901168" cy="1206816"/>
          </a:xfrm>
          <a:prstGeom prst="bentConnector3">
            <a:avLst>
              <a:gd name="adj1" fmla="val 994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7E320E3-61B4-50C1-2E49-DEEEA8E83E29}"/>
              </a:ext>
            </a:extLst>
          </p:cNvPr>
          <p:cNvSpPr/>
          <p:nvPr/>
        </p:nvSpPr>
        <p:spPr>
          <a:xfrm>
            <a:off x="6208387" y="9234808"/>
            <a:ext cx="1674158" cy="52443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3 _1 Scraping the YouTube comments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9C6523-E16C-170C-5B2C-DF16D03C0F84}"/>
              </a:ext>
            </a:extLst>
          </p:cNvPr>
          <p:cNvCxnSpPr>
            <a:cxnSpLocks/>
            <a:stCxn id="14" idx="3"/>
            <a:endCxn id="30" idx="1"/>
          </p:cNvCxnSpPr>
          <p:nvPr/>
        </p:nvCxnSpPr>
        <p:spPr>
          <a:xfrm>
            <a:off x="7909957" y="6595856"/>
            <a:ext cx="1314000" cy="43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9A8E57-AA13-B0DE-0DC2-0A6012D0EB0D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7882545" y="9497026"/>
            <a:ext cx="1297147" cy="65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EA2A973-FD22-523C-3A9F-1D1D8CF21F87}"/>
              </a:ext>
            </a:extLst>
          </p:cNvPr>
          <p:cNvSpPr/>
          <p:nvPr/>
        </p:nvSpPr>
        <p:spPr>
          <a:xfrm>
            <a:off x="9223957" y="6376731"/>
            <a:ext cx="1674158" cy="524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4 _ Cleaning YouTube metadata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507E4D-73AF-E5EA-E9C6-7E5ECEB2F983}"/>
              </a:ext>
            </a:extLst>
          </p:cNvPr>
          <p:cNvSpPr/>
          <p:nvPr/>
        </p:nvSpPr>
        <p:spPr>
          <a:xfrm>
            <a:off x="9179692" y="9300555"/>
            <a:ext cx="1674158" cy="52443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5 _ Cleaning the YouTube comments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D77BCCC-E7D3-C6B3-AE53-B89E8F06FC75}"/>
              </a:ext>
            </a:extLst>
          </p:cNvPr>
          <p:cNvCxnSpPr>
            <a:cxnSpLocks/>
            <a:stCxn id="15" idx="3"/>
            <a:endCxn id="57" idx="1"/>
          </p:cNvCxnSpPr>
          <p:nvPr/>
        </p:nvCxnSpPr>
        <p:spPr>
          <a:xfrm flipV="1">
            <a:off x="7784096" y="3278922"/>
            <a:ext cx="1525617" cy="12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735F15C-5E71-6B9B-E3E6-ED4E3B185E58}"/>
              </a:ext>
            </a:extLst>
          </p:cNvPr>
          <p:cNvSpPr/>
          <p:nvPr/>
        </p:nvSpPr>
        <p:spPr>
          <a:xfrm>
            <a:off x="6208387" y="10465508"/>
            <a:ext cx="1674158" cy="52443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3 _2 Scraping missing comments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69BAF6-E1AB-E6C7-B02D-E73F2D7D0387}"/>
              </a:ext>
            </a:extLst>
          </p:cNvPr>
          <p:cNvSpPr/>
          <p:nvPr/>
        </p:nvSpPr>
        <p:spPr>
          <a:xfrm>
            <a:off x="9309713" y="3016704"/>
            <a:ext cx="1674158" cy="52443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7 _ Creating the topical classifier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0B0093-C2F6-9CD0-2793-DDEABD004D45}"/>
              </a:ext>
            </a:extLst>
          </p:cNvPr>
          <p:cNvSpPr/>
          <p:nvPr/>
        </p:nvSpPr>
        <p:spPr>
          <a:xfrm>
            <a:off x="13035097" y="5667094"/>
            <a:ext cx="1674158" cy="524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8 _ Classifying topics of YouTube videos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B5D8F74-2098-264E-3E0F-76F4C80823AE}"/>
              </a:ext>
            </a:extLst>
          </p:cNvPr>
          <p:cNvCxnSpPr>
            <a:cxnSpLocks/>
            <a:stCxn id="57" idx="3"/>
            <a:endCxn id="61" idx="1"/>
          </p:cNvCxnSpPr>
          <p:nvPr/>
        </p:nvCxnSpPr>
        <p:spPr>
          <a:xfrm>
            <a:off x="10983871" y="3278922"/>
            <a:ext cx="2051226" cy="2650390"/>
          </a:xfrm>
          <a:prstGeom prst="bentConnector3">
            <a:avLst>
              <a:gd name="adj1" fmla="val 475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82E697B-E23B-AD08-C723-FD67B8E68BB9}"/>
              </a:ext>
            </a:extLst>
          </p:cNvPr>
          <p:cNvCxnSpPr>
            <a:cxnSpLocks/>
            <a:stCxn id="30" idx="3"/>
            <a:endCxn id="61" idx="1"/>
          </p:cNvCxnSpPr>
          <p:nvPr/>
        </p:nvCxnSpPr>
        <p:spPr>
          <a:xfrm flipV="1">
            <a:off x="10898115" y="5929312"/>
            <a:ext cx="2136982" cy="7096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869F06F1-6059-E3A5-700C-F36F5A4805DD}"/>
              </a:ext>
            </a:extLst>
          </p:cNvPr>
          <p:cNvSpPr/>
          <p:nvPr/>
        </p:nvSpPr>
        <p:spPr>
          <a:xfrm>
            <a:off x="16588393" y="5736931"/>
            <a:ext cx="1674158" cy="524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9 _ Sentiment analysis videos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7D6A4D7-A95F-FE82-D6EB-2601F1A2D14E}"/>
              </a:ext>
            </a:extLst>
          </p:cNvPr>
          <p:cNvCxnSpPr>
            <a:cxnSpLocks/>
            <a:stCxn id="61" idx="3"/>
            <a:endCxn id="72" idx="1"/>
          </p:cNvCxnSpPr>
          <p:nvPr/>
        </p:nvCxnSpPr>
        <p:spPr>
          <a:xfrm>
            <a:off x="14709255" y="5929312"/>
            <a:ext cx="1879138" cy="69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275D3EC-3DD9-1DC3-B52B-9B80E0E2D553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5188138" y="9497026"/>
            <a:ext cx="1020249" cy="262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89D4F30-76E1-54C7-260C-5F6532B89BF8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14986" y="9759242"/>
            <a:ext cx="993401" cy="968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C12E654-8278-49F8-317F-BCB08DE7DC65}"/>
              </a:ext>
            </a:extLst>
          </p:cNvPr>
          <p:cNvSpPr/>
          <p:nvPr/>
        </p:nvSpPr>
        <p:spPr>
          <a:xfrm>
            <a:off x="13692074" y="9731547"/>
            <a:ext cx="1674158" cy="7339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10 _ 1_ Sentiment analysis BILD comments part 1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BDDB3E6-1C33-FE0C-E79D-5593031D52A2}"/>
              </a:ext>
            </a:extLst>
          </p:cNvPr>
          <p:cNvCxnSpPr>
            <a:cxnSpLocks/>
            <a:stCxn id="31" idx="3"/>
            <a:endCxn id="118" idx="1"/>
          </p:cNvCxnSpPr>
          <p:nvPr/>
        </p:nvCxnSpPr>
        <p:spPr>
          <a:xfrm>
            <a:off x="10853850" y="9562773"/>
            <a:ext cx="2838224" cy="53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6D136BB-9015-B557-F05B-2FCFAA6E7492}"/>
              </a:ext>
            </a:extLst>
          </p:cNvPr>
          <p:cNvSpPr/>
          <p:nvPr/>
        </p:nvSpPr>
        <p:spPr>
          <a:xfrm>
            <a:off x="13692074" y="10701305"/>
            <a:ext cx="1674158" cy="7339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10 _ 2_ Sentiment analysis BILD comments part 2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5B619C9-6CFF-623A-F315-C464F912AF3A}"/>
              </a:ext>
            </a:extLst>
          </p:cNvPr>
          <p:cNvCxnSpPr>
            <a:cxnSpLocks/>
            <a:stCxn id="37" idx="3"/>
            <a:endCxn id="120" idx="1"/>
          </p:cNvCxnSpPr>
          <p:nvPr/>
        </p:nvCxnSpPr>
        <p:spPr>
          <a:xfrm>
            <a:off x="7882546" y="10727725"/>
            <a:ext cx="5809529" cy="340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016E521-F38D-1AC1-8D8E-975B8422533B}"/>
              </a:ext>
            </a:extLst>
          </p:cNvPr>
          <p:cNvCxnSpPr>
            <a:cxnSpLocks/>
            <a:stCxn id="31" idx="3"/>
            <a:endCxn id="120" idx="1"/>
          </p:cNvCxnSpPr>
          <p:nvPr/>
        </p:nvCxnSpPr>
        <p:spPr>
          <a:xfrm>
            <a:off x="10853850" y="9562773"/>
            <a:ext cx="2838224" cy="1505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B06191E-4EEB-5D4D-1CA6-72FB5A6B8AC9}"/>
              </a:ext>
            </a:extLst>
          </p:cNvPr>
          <p:cNvSpPr/>
          <p:nvPr/>
        </p:nvSpPr>
        <p:spPr>
          <a:xfrm>
            <a:off x="15366232" y="8498273"/>
            <a:ext cx="1674158" cy="7339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11_ Sentiment analysis DW comments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9A7DA93-4058-94EA-A2D3-5AE6C5646A82}"/>
              </a:ext>
            </a:extLst>
          </p:cNvPr>
          <p:cNvCxnSpPr>
            <a:cxnSpLocks/>
            <a:stCxn id="31" idx="3"/>
            <a:endCxn id="128" idx="1"/>
          </p:cNvCxnSpPr>
          <p:nvPr/>
        </p:nvCxnSpPr>
        <p:spPr>
          <a:xfrm flipV="1">
            <a:off x="10853850" y="8865253"/>
            <a:ext cx="4512382" cy="69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DD05CD3-A034-8482-FFF3-8BC2516EF928}"/>
              </a:ext>
            </a:extLst>
          </p:cNvPr>
          <p:cNvSpPr/>
          <p:nvPr/>
        </p:nvSpPr>
        <p:spPr>
          <a:xfrm>
            <a:off x="16588393" y="10255982"/>
            <a:ext cx="1674158" cy="7339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12_ Concatenating BILD comments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69E547D5-4296-B7D7-409F-F5129B0D1858}"/>
              </a:ext>
            </a:extLst>
          </p:cNvPr>
          <p:cNvCxnSpPr>
            <a:cxnSpLocks/>
            <a:stCxn id="118" idx="3"/>
            <a:endCxn id="135" idx="1"/>
          </p:cNvCxnSpPr>
          <p:nvPr/>
        </p:nvCxnSpPr>
        <p:spPr>
          <a:xfrm>
            <a:off x="15366233" y="10098528"/>
            <a:ext cx="1222161" cy="524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F859F25-F701-B46A-02BD-058E61923DBD}"/>
              </a:ext>
            </a:extLst>
          </p:cNvPr>
          <p:cNvCxnSpPr>
            <a:cxnSpLocks/>
            <a:stCxn id="120" idx="3"/>
            <a:endCxn id="135" idx="1"/>
          </p:cNvCxnSpPr>
          <p:nvPr/>
        </p:nvCxnSpPr>
        <p:spPr>
          <a:xfrm flipV="1">
            <a:off x="15366233" y="10622963"/>
            <a:ext cx="1222161" cy="445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54E9773-865D-8A2A-2817-1DE3FC989F14}"/>
              </a:ext>
            </a:extLst>
          </p:cNvPr>
          <p:cNvSpPr/>
          <p:nvPr/>
        </p:nvSpPr>
        <p:spPr>
          <a:xfrm>
            <a:off x="19419461" y="7596265"/>
            <a:ext cx="1674158" cy="73396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13_ Evaluations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54CA699-8386-6828-B2F7-F40A219F97C6}"/>
              </a:ext>
            </a:extLst>
          </p:cNvPr>
          <p:cNvCxnSpPr>
            <a:cxnSpLocks/>
            <a:stCxn id="72" idx="3"/>
            <a:endCxn id="155" idx="1"/>
          </p:cNvCxnSpPr>
          <p:nvPr/>
        </p:nvCxnSpPr>
        <p:spPr>
          <a:xfrm>
            <a:off x="18262551" y="5999149"/>
            <a:ext cx="1156910" cy="1964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FCC9B7E-BF2B-BE79-B10A-C381C07B9903}"/>
              </a:ext>
            </a:extLst>
          </p:cNvPr>
          <p:cNvCxnSpPr>
            <a:cxnSpLocks/>
            <a:stCxn id="128" idx="3"/>
            <a:endCxn id="155" idx="1"/>
          </p:cNvCxnSpPr>
          <p:nvPr/>
        </p:nvCxnSpPr>
        <p:spPr>
          <a:xfrm flipV="1">
            <a:off x="17040390" y="7963245"/>
            <a:ext cx="2379071" cy="902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14AAC46-7D6B-FEE1-E9E4-8659FA31776D}"/>
              </a:ext>
            </a:extLst>
          </p:cNvPr>
          <p:cNvCxnSpPr>
            <a:cxnSpLocks/>
            <a:stCxn id="135" idx="3"/>
            <a:endCxn id="155" idx="1"/>
          </p:cNvCxnSpPr>
          <p:nvPr/>
        </p:nvCxnSpPr>
        <p:spPr>
          <a:xfrm flipV="1">
            <a:off x="18262551" y="7963246"/>
            <a:ext cx="1156910" cy="2659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7E202A6-E9FA-2A6A-47C4-68258FF3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671764"/>
            <a:ext cx="17750683" cy="1120223"/>
          </a:xfrm>
        </p:spPr>
        <p:txBody>
          <a:bodyPr>
            <a:normAutofit fontScale="90000"/>
          </a:bodyPr>
          <a:lstStyle/>
          <a:p>
            <a:r>
              <a:rPr lang="de-DE" dirty="0"/>
              <a:t>Data </a:t>
            </a:r>
            <a:r>
              <a:rPr lang="de-DE" dirty="0" err="1"/>
              <a:t>pipeline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0306D-52BE-328A-B5F3-9BF198809B5C}"/>
              </a:ext>
            </a:extLst>
          </p:cNvPr>
          <p:cNvSpPr/>
          <p:nvPr/>
        </p:nvSpPr>
        <p:spPr>
          <a:xfrm>
            <a:off x="393396" y="2008299"/>
            <a:ext cx="1674158" cy="524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YouTube </a:t>
            </a:r>
            <a:r>
              <a:rPr lang="de-DE" sz="1200" dirty="0" err="1"/>
              <a:t>video</a:t>
            </a:r>
            <a:r>
              <a:rPr lang="de-DE" sz="1200" dirty="0"/>
              <a:t> </a:t>
            </a:r>
            <a:r>
              <a:rPr lang="de-DE" sz="1200" dirty="0" err="1"/>
              <a:t>data</a:t>
            </a:r>
            <a:r>
              <a:rPr lang="de-DE" sz="1200" dirty="0"/>
              <a:t> </a:t>
            </a:r>
            <a:r>
              <a:rPr lang="de-DE" sz="1200" dirty="0" err="1"/>
              <a:t>notebooks</a:t>
            </a:r>
            <a:endParaRPr lang="en-GB" sz="1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BA6D12-ADF1-1E86-2727-13225A2523EC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4904077" y="6595856"/>
            <a:ext cx="1331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0025A25-D7C1-5FCF-E430-D1CAC4C06E2E}"/>
              </a:ext>
            </a:extLst>
          </p:cNvPr>
          <p:cNvSpPr/>
          <p:nvPr/>
        </p:nvSpPr>
        <p:spPr>
          <a:xfrm>
            <a:off x="393396" y="2729918"/>
            <a:ext cx="1674158" cy="52443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Topic </a:t>
            </a:r>
            <a:r>
              <a:rPr lang="de-DE" sz="1200" dirty="0" err="1"/>
              <a:t>classifier</a:t>
            </a:r>
            <a:r>
              <a:rPr lang="de-DE" sz="1200" dirty="0"/>
              <a:t> </a:t>
            </a:r>
            <a:r>
              <a:rPr lang="de-DE" sz="1200" dirty="0" err="1"/>
              <a:t>notebooks</a:t>
            </a:r>
            <a:endParaRPr lang="en-GB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5A588E-ADC1-2BA1-7592-92E980A3D899}"/>
              </a:ext>
            </a:extLst>
          </p:cNvPr>
          <p:cNvSpPr/>
          <p:nvPr/>
        </p:nvSpPr>
        <p:spPr>
          <a:xfrm>
            <a:off x="393396" y="3451537"/>
            <a:ext cx="1674158" cy="52443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Y</a:t>
            </a:r>
            <a:r>
              <a:rPr lang="en-GB" sz="1200" dirty="0" err="1"/>
              <a:t>ouTube</a:t>
            </a:r>
            <a:r>
              <a:rPr lang="en-GB" sz="1200" dirty="0"/>
              <a:t> comment notebooks</a:t>
            </a:r>
          </a:p>
        </p:txBody>
      </p:sp>
    </p:spTree>
    <p:extLst>
      <p:ext uri="{BB962C8B-B14F-4D97-AF65-F5344CB8AC3E}">
        <p14:creationId xmlns:p14="http://schemas.microsoft.com/office/powerpoint/2010/main" val="3311340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121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Data pipeline</vt:lpstr>
    </vt:vector>
  </TitlesOfParts>
  <Company>Universitaet Regensburg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Stangl</dc:creator>
  <cp:lastModifiedBy>Markus Stangl</cp:lastModifiedBy>
  <cp:revision>3</cp:revision>
  <dcterms:created xsi:type="dcterms:W3CDTF">2026-02-01T15:32:30Z</dcterms:created>
  <dcterms:modified xsi:type="dcterms:W3CDTF">2026-02-05T15:13:44Z</dcterms:modified>
</cp:coreProperties>
</file>